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DM Sans" panose="020B0604020202020204" charset="0"/>
      <p:regular r:id="rId22"/>
      <p:bold r:id="rId23"/>
      <p:italic r:id="rId24"/>
      <p:boldItalic r:id="rId25"/>
    </p:embeddedFont>
    <p:embeddedFont>
      <p:font typeface="DM Sans ExtraBold" panose="020B0604020202020204" charset="0"/>
      <p:bold r:id="rId26"/>
      <p:boldItalic r:id="rId27"/>
    </p:embeddedFont>
    <p:embeddedFont>
      <p:font typeface="DM Sans Medium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Inter" panose="020B0604020202020204" charset="0"/>
      <p:regular r:id="rId36"/>
      <p:bold r:id="rId37"/>
      <p:italic r:id="rId38"/>
      <p:boldItalic r:id="rId39"/>
    </p:embeddedFont>
    <p:embeddedFont>
      <p:font typeface="Inter ExtraBold" panose="020B0604020202020204" charset="0"/>
      <p:bold r:id="rId40"/>
      <p:boldItalic r:id="rId41"/>
    </p:embeddedFont>
    <p:embeddedFont>
      <p:font typeface="Inter SemiBold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C5370F-0CB2-4A0E-BE99-5DB234536EAE}">
  <a:tblStyle styleId="{81C5370F-0CB2-4A0E-BE99-5DB234536E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4144267"/>
            <a:ext cx="8534400" cy="7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67275" y="1944141"/>
            <a:ext cx="24574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23744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ZOMATO CASE STUDY</a:t>
            </a:r>
            <a:endParaRPr sz="1800" b="1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725703" y="2172741"/>
            <a:ext cx="474059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Sales Decline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376611" y="3661470"/>
            <a:ext cx="54387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Food Delivery Sales Inefficiency &amp; Remediation Analysis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817143" y="4399626"/>
            <a:ext cx="12858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Role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Business Analyst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865018" y="4399626"/>
            <a:ext cx="88106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Prepared By</a:t>
            </a: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Sairaj More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484018" y="4439542"/>
            <a:ext cx="9525" cy="47416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117556" y="4439542"/>
            <a:ext cx="9525" cy="47416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508081" y="4399626"/>
            <a:ext cx="10096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Date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26/06/2026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B6AD0-3F60-479F-947F-34E50D7E74CF}"/>
              </a:ext>
            </a:extLst>
          </p:cNvPr>
          <p:cNvSpPr txBox="1"/>
          <p:nvPr/>
        </p:nvSpPr>
        <p:spPr>
          <a:xfrm>
            <a:off x="8078771" y="2766298"/>
            <a:ext cx="172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E237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Analysis</a:t>
            </a:r>
            <a:endParaRPr lang="en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155632" y="2728019"/>
            <a:ext cx="588073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 / Business Problem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4999" y="3799649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94768"/>
            <a:ext cx="5143500" cy="323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94768"/>
            <a:ext cx="5143500" cy="323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4482405"/>
            <a:ext cx="4419600" cy="60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Business Problem &amp; Scopes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43000" y="2537668"/>
            <a:ext cx="46405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Business Problem Overview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1143000" y="290914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43000" y="3109168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Problem Statement: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43000" y="3495823"/>
            <a:ext cx="4419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Zomato's Sales Declining Over the Last 6 Month's.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143000" y="4008239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143000" y="4394894"/>
            <a:ext cx="4419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374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Find the Root Cause and Recommended Data Driven Solution.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0" y="2537668"/>
            <a:ext cx="46405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Scopes and Assumptions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667500" y="290914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667500" y="4634805"/>
            <a:ext cx="441960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TARGET CUSTOMER SEGMENT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0" y="4817566"/>
            <a:ext cx="4419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Repeat Customer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67500" y="3109168"/>
            <a:ext cx="21145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SALES DECLINE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67500" y="3291929"/>
            <a:ext cx="2114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20%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972550" y="3109168"/>
            <a:ext cx="21145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BUSINESS LINE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972550" y="3291929"/>
            <a:ext cx="21145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Food Delivery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67500" y="3787229"/>
            <a:ext cx="21145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GEOGRAPHY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0" y="3969990"/>
            <a:ext cx="21145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Mumbai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972550" y="3787229"/>
            <a:ext cx="21145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TIME PERIOD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972550" y="3969990"/>
            <a:ext cx="21145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Last 6 Months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95462"/>
            <a:ext cx="106680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852737"/>
            <a:ext cx="106680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10012"/>
            <a:ext cx="106680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967287"/>
            <a:ext cx="106680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Clarifications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19954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30527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411003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51673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8237" y="21240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628775" y="1995487"/>
            <a:ext cx="59707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Is the Decline in Sales, Revenue, Profit or Order?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628775" y="2233612"/>
            <a:ext cx="5686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Understanding the exact financial metric impacted to isolate the scope of the trend.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8237" y="318149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628775" y="3052762"/>
            <a:ext cx="52906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Is this Affecting all Cities or Only Specific Region?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628775" y="3290887"/>
            <a:ext cx="5038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Pinpointing regional patterns versus broad-level operational system shifts.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8237" y="42386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628775" y="4110037"/>
            <a:ext cx="63007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Which Business Line is Impacted?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628775" y="4348162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Isolating Food Delivery from other verticals like Dining Out, Hyperpure, or Event Ticketing.</a:t>
            </a:r>
            <a:endParaRPr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8237" y="5295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628775" y="5167312"/>
            <a:ext cx="53406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Which Customer Segment is Contributing to the Decline?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628775" y="5405437"/>
            <a:ext cx="5086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Detecting behavioral drift across new users versus loyal long-term cohorts.</a:t>
            </a:r>
            <a:endParaRPr/>
          </a:p>
        </p:txBody>
      </p:sp>
      <p:sp>
        <p:nvSpPr>
          <p:cNvPr id="25" name="Google Shape;111;p15">
            <a:extLst>
              <a:ext uri="{FF2B5EF4-FFF2-40B4-BE49-F238E27FC236}">
                <a16:creationId xmlns:a16="http://schemas.microsoft.com/office/drawing/2014/main" id="{D2AAB161-8359-4D97-93AA-26129212F3E4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6037"/>
            <a:ext cx="25241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586037"/>
            <a:ext cx="25241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586037"/>
            <a:ext cx="25241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586037"/>
            <a:ext cx="25241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Success KPIs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58929" y="3405187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Sales Revenue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09650" y="3700462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374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Primary KPI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09650" y="3995737"/>
            <a:ext cx="2028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Tracking high-level operational recovery &amp; transaction totals.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673554" y="3405187"/>
            <a:ext cx="213026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Average Order Value by Customer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724275" y="3900487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Supporting KPI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724275" y="4195762"/>
            <a:ext cx="20288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Monitoring ticket size adjustments per active transaction.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388179" y="3405187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Customer Retention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38900" y="3700462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Supporting KPI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438900" y="3995737"/>
            <a:ext cx="2028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Evaluating the rate of recurring usage within key cohorts.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02804" y="3405187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Customer Churn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53525" y="3700462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Supporting KPI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53525" y="3995737"/>
            <a:ext cx="2028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Identifying the rate at which long-term customers drop off.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1662" y="29003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7237" y="29003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62812" y="29003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77437" y="290036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11;p15">
            <a:extLst>
              <a:ext uri="{FF2B5EF4-FFF2-40B4-BE49-F238E27FC236}">
                <a16:creationId xmlns:a16="http://schemas.microsoft.com/office/drawing/2014/main" id="{0402BC34-C4F7-43D1-AB08-C1DECEC19880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249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20503"/>
            <a:ext cx="5143500" cy="338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20503"/>
            <a:ext cx="5143500" cy="3388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 Breakdown Factors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43000" y="2463403"/>
            <a:ext cx="464058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Internal Factors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1143000" y="280243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667500" y="2463403"/>
            <a:ext cx="464058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External Factors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667500" y="280243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76850" y="247099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1143000" y="3002458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App Performance Issue (UI/UX design)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143000" y="3322439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Checkout Failures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143000" y="3642419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Delivery Delays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143000" y="3962400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Order Cancellation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143000" y="4282380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Customer Support Problem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143000" y="4602360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Higher Platform Fees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43000" y="4922341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Reduced Discounts</a:t>
            </a:r>
            <a:endParaRPr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58500" y="247099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6667500" y="3002458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Other Market Competitors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667500" y="3322439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Increasing Price / Price Sensitive Customer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667500" y="3642419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Inflation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667500" y="3962400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Fuel Price Increasing for Home Delivery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667500" y="4282380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Change Food Preferences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667500" y="4602360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Seasonal Demand Pattern</a:t>
            </a:r>
            <a:endParaRPr/>
          </a:p>
        </p:txBody>
      </p:sp>
      <p:pic>
        <p:nvPicPr>
          <p:cNvPr id="212" name="Google Shape;21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3059608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3379589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3699569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019550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339530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659510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979491"/>
            <a:ext cx="157899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3052528"/>
            <a:ext cx="152400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3372509"/>
            <a:ext cx="152400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3692489"/>
            <a:ext cx="1524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4000500"/>
            <a:ext cx="152400" cy="23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4320480"/>
            <a:ext cx="152400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4652430"/>
            <a:ext cx="152400" cy="2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11;p15">
            <a:extLst>
              <a:ext uri="{FF2B5EF4-FFF2-40B4-BE49-F238E27FC236}">
                <a16:creationId xmlns:a16="http://schemas.microsoft.com/office/drawing/2014/main" id="{FABDCE18-F580-4558-A604-6002787A778D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78397"/>
            <a:ext cx="10668000" cy="327273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Hypothesis Foundation</a:t>
            </a:r>
            <a:endParaRPr/>
          </a:p>
        </p:txBody>
      </p:sp>
      <p:graphicFrame>
        <p:nvGraphicFramePr>
          <p:cNvPr id="233" name="Google Shape;233;p19"/>
          <p:cNvGraphicFramePr/>
          <p:nvPr/>
        </p:nvGraphicFramePr>
        <p:xfrm>
          <a:off x="771525" y="2187922"/>
          <a:ext cx="10648950" cy="3253650"/>
        </p:xfrm>
        <a:graphic>
          <a:graphicData uri="http://schemas.openxmlformats.org/drawingml/2006/table">
            <a:tbl>
              <a:tblPr firstRow="1" bandRow="1">
                <a:noFill/>
                <a:tableStyleId>{81C5370F-0CB2-4A0E-BE99-5DB234536EAE}</a:tableStyleId>
              </a:tblPr>
              <a:tblGrid>
                <a:gridCol w="532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Hypothesis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Validation 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Delivery Time Increased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Delivery Time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Fee Increased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Pricing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Customer Complaint Increased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Complaint Dashboard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Competitor Discount Improved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Market Research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 Performance Degraded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 Report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4" name="Google Shape;234;p19"/>
          <p:cNvSpPr/>
          <p:nvPr/>
        </p:nvSpPr>
        <p:spPr>
          <a:xfrm>
            <a:off x="771525" y="326514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096000" y="326514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771525" y="380806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096000" y="380806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771525" y="435099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6096000" y="435099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71525" y="489391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6096000" y="489391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11;p15">
            <a:extLst>
              <a:ext uri="{FF2B5EF4-FFF2-40B4-BE49-F238E27FC236}">
                <a16:creationId xmlns:a16="http://schemas.microsoft.com/office/drawing/2014/main" id="{029A7078-AC50-408D-A113-4FD424506A7B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43025"/>
            <a:ext cx="10668000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Prioritized Hypothesis Impact</a:t>
            </a:r>
            <a:endParaRPr/>
          </a:p>
        </p:txBody>
      </p:sp>
      <p:sp>
        <p:nvSpPr>
          <p:cNvPr id="6" name="Google Shape;111;p15">
            <a:extLst>
              <a:ext uri="{FF2B5EF4-FFF2-40B4-BE49-F238E27FC236}">
                <a16:creationId xmlns:a16="http://schemas.microsoft.com/office/drawing/2014/main" id="{1757DE5B-34E0-42BD-B36E-D9B9F79018E7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35472"/>
            <a:ext cx="10668000" cy="435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&amp; Stakeholder Alignment</a:t>
            </a:r>
            <a:endParaRPr/>
          </a:p>
        </p:txBody>
      </p:sp>
      <p:graphicFrame>
        <p:nvGraphicFramePr>
          <p:cNvPr id="258" name="Google Shape;258;p21"/>
          <p:cNvGraphicFramePr/>
          <p:nvPr/>
        </p:nvGraphicFramePr>
        <p:xfrm>
          <a:off x="771525" y="1644997"/>
          <a:ext cx="10648950" cy="4339600"/>
        </p:xfrm>
        <a:graphic>
          <a:graphicData uri="http://schemas.openxmlformats.org/drawingml/2006/table">
            <a:tbl>
              <a:tblPr firstRow="1" bandRow="1">
                <a:noFill/>
                <a:tableStyleId>{81C5370F-0CB2-4A0E-BE99-5DB234536EAE}</a:tableStyleId>
              </a:tblPr>
              <a:tblGrid>
                <a:gridCol w="532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Data 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Associated Stakeholder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Sales and Revenue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Business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Order Trends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Retention and Churn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Marketing 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Delivery Time and Metrics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Operations 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Complaint and Refund Reports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Customer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 Rating and Reviews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Technology 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Competitor and Pricing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Restaurant Partner 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9" name="Google Shape;259;p21"/>
          <p:cNvSpPr/>
          <p:nvPr/>
        </p:nvSpPr>
        <p:spPr>
          <a:xfrm>
            <a:off x="771525" y="272221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096000" y="272221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771525" y="326514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6096000" y="326514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771525" y="380806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096000" y="380806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71525" y="435099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096000" y="435099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771525" y="489391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6096000" y="489391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771525" y="543684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096000" y="5436840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11;p15">
            <a:extLst>
              <a:ext uri="{FF2B5EF4-FFF2-40B4-BE49-F238E27FC236}">
                <a16:creationId xmlns:a16="http://schemas.microsoft.com/office/drawing/2014/main" id="{E57E75DB-D1B1-4B63-BA6A-DEBAEF806115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76388"/>
            <a:ext cx="36957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33950" y="1995636"/>
            <a:ext cx="6496050" cy="108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3950" y="3271837"/>
            <a:ext cx="6496050" cy="108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33950" y="4548038"/>
            <a:ext cx="6496050" cy="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Findings &amp; Root Cause Metrics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162050" y="3176438"/>
            <a:ext cx="2895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E237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+50%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766887" y="4224188"/>
            <a:ext cx="1685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SLOWER DELIVERY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172075" y="2186136"/>
            <a:ext cx="637079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1) Delivery Performance Decline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5172075" y="2433786"/>
            <a:ext cx="60674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374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28 to 42 minutes (Delivery Time Increased)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5172075" y="2677566"/>
            <a:ext cx="60674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Resulted in operational bottleneck and overall drop in efficiency.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5172075" y="3462337"/>
            <a:ext cx="637079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2) Customer Complaints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5172075" y="3709987"/>
            <a:ext cx="60674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374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+35% Complaint Volume Increased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5172075" y="3953767"/>
            <a:ext cx="60674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Highlights severe service quality concerns among active users.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5172075" y="4738538"/>
            <a:ext cx="637079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3) Repeat Order Erosion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172075" y="4986188"/>
            <a:ext cx="60674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374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-18% Repeat Customer Orders Declined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5172075" y="5229969"/>
            <a:ext cx="60674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Identifies that Zomato's highly loyal customers are ordering less frequently.</a:t>
            </a:r>
            <a:endParaRPr/>
          </a:p>
        </p:txBody>
      </p:sp>
      <p:sp>
        <p:nvSpPr>
          <p:cNvPr id="20" name="Google Shape;111;p15">
            <a:extLst>
              <a:ext uri="{FF2B5EF4-FFF2-40B4-BE49-F238E27FC236}">
                <a16:creationId xmlns:a16="http://schemas.microsoft.com/office/drawing/2014/main" id="{558E4D18-A822-4F7A-86D5-2007F6430606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38423"/>
            <a:ext cx="12219932" cy="70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688210"/>
            <a:ext cx="10668000" cy="96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4784" y="1344958"/>
            <a:ext cx="10287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4784" y="2173633"/>
            <a:ext cx="10287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31216" y="2988297"/>
            <a:ext cx="10310568" cy="709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3829050"/>
            <a:ext cx="10287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657725"/>
            <a:ext cx="10287000" cy="79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90650" y="1495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90650" y="2324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90650" y="3152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90650" y="3981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90650" y="486340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Root Cause Analysis: Why 5 Technique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643257" y="1480242"/>
            <a:ext cx="19050" cy="3726065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1047750" y="5926335"/>
            <a:ext cx="1065133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3744"/>
                </a:solidFill>
                <a:latin typeface="Inter"/>
                <a:ea typeface="Inter"/>
                <a:cs typeface="Inter"/>
                <a:sym typeface="Inter"/>
              </a:rPr>
              <a:t>Root Cause Validated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1047750" y="6173985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Operational Inefficiencies combined with increased competition led to lower Customer satisfaction and reduced repeat orders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905759" y="160364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1973934" y="1565967"/>
            <a:ext cx="4295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Why Sales Declined? 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→ Because Customers Ordered Less.</a:t>
            </a:r>
            <a:endParaRPr dirty="0"/>
          </a:p>
        </p:txBody>
      </p:sp>
      <p:sp>
        <p:nvSpPr>
          <p:cNvPr id="316" name="Google Shape;316;p23"/>
          <p:cNvSpPr/>
          <p:nvPr/>
        </p:nvSpPr>
        <p:spPr>
          <a:xfrm>
            <a:off x="898173" y="2438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1967334" y="2390349"/>
            <a:ext cx="577582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Why Customers Ordered Less? 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→ Because Delivery was consistently Delayed.</a:t>
            </a:r>
            <a:endParaRPr dirty="0"/>
          </a:p>
        </p:txBody>
      </p:sp>
      <p:sp>
        <p:nvSpPr>
          <p:cNvPr id="318" name="Google Shape;318;p23"/>
          <p:cNvSpPr/>
          <p:nvPr/>
        </p:nvSpPr>
        <p:spPr>
          <a:xfrm>
            <a:off x="898173" y="32670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1965348" y="3219024"/>
            <a:ext cx="751334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Why Delivery was consistently Delayed? 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→ Because of Insufficient delivery Partners during Peak hours.</a:t>
            </a:r>
            <a:endParaRPr dirty="0"/>
          </a:p>
        </p:txBody>
      </p:sp>
      <p:sp>
        <p:nvSpPr>
          <p:cNvPr id="320" name="Google Shape;320;p23"/>
          <p:cNvSpPr/>
          <p:nvPr/>
        </p:nvSpPr>
        <p:spPr>
          <a:xfrm>
            <a:off x="898173" y="4095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1973934" y="4051992"/>
            <a:ext cx="69913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Why Insufficient delivery Partners during Peak hours? </a:t>
            </a: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→ Because of a Low incentive Structure.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898173" y="497770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1973934" y="4812058"/>
            <a:ext cx="9220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Why Low incentive Structure reduced partner Availability? </a:t>
            </a: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→ Operational bottleneck leading directly to the 20% sales decline.</a:t>
            </a:r>
            <a:endParaRPr/>
          </a:p>
        </p:txBody>
      </p:sp>
      <p:sp>
        <p:nvSpPr>
          <p:cNvPr id="29" name="Google Shape;111;p15">
            <a:extLst>
              <a:ext uri="{FF2B5EF4-FFF2-40B4-BE49-F238E27FC236}">
                <a16:creationId xmlns:a16="http://schemas.microsoft.com/office/drawing/2014/main" id="{FC46C012-0BAC-410E-B520-85757C640E14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25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48061"/>
            <a:ext cx="5143500" cy="2933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48061"/>
            <a:ext cx="5143500" cy="293340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Recommended Solutions Roadmap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1143000" y="2690961"/>
            <a:ext cx="46405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Tactical: 0 - 3 Months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1143000" y="3062436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6667500" y="2690961"/>
            <a:ext cx="46405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Strategic: 3 - 12 Months</a:t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6667500" y="3062436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1143000" y="3262461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1) Increase delivery partner incentives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1143000" y="3620541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2) Improve refund turnaround time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1143000" y="3978622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3) Targeted discounts for repeat customers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1143000" y="4336702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4) Fix critical app issues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1143000" y="4694783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5) Launch Retention campaigns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6667500" y="3262461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1) AI based Delivery Routing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6667500" y="3620541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2) Restaurant Performance Monitoring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6667500" y="3978622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3) Pricing Strategy Redesign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6667500" y="4336702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4) Strengthen loyalty Program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6667500" y="4694783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5) Enhance App Scalability</a:t>
            </a:r>
            <a:endParaRPr/>
          </a:p>
        </p:txBody>
      </p:sp>
      <p:pic>
        <p:nvPicPr>
          <p:cNvPr id="347" name="Google Shape;34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3300561"/>
            <a:ext cx="129619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3658641"/>
            <a:ext cx="129619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016722"/>
            <a:ext cx="129619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374802"/>
            <a:ext cx="129619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732883"/>
            <a:ext cx="129619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300561"/>
            <a:ext cx="138653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658641"/>
            <a:ext cx="138653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4016722"/>
            <a:ext cx="138653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4374802"/>
            <a:ext cx="138653" cy="24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4732883"/>
            <a:ext cx="138653" cy="24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11;p15">
            <a:extLst>
              <a:ext uri="{FF2B5EF4-FFF2-40B4-BE49-F238E27FC236}">
                <a16:creationId xmlns:a16="http://schemas.microsoft.com/office/drawing/2014/main" id="{80657B52-2159-4CA1-8E7A-86966CEACAFF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06934"/>
            <a:ext cx="10668000" cy="381565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5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Prioritization Matrix</a:t>
            </a:r>
            <a:endParaRPr/>
          </a:p>
        </p:txBody>
      </p:sp>
      <p:graphicFrame>
        <p:nvGraphicFramePr>
          <p:cNvPr id="365" name="Google Shape;365;p25"/>
          <p:cNvGraphicFramePr/>
          <p:nvPr>
            <p:extLst>
              <p:ext uri="{D42A27DB-BD31-4B8C-83A1-F6EECF244321}">
                <p14:modId xmlns:p14="http://schemas.microsoft.com/office/powerpoint/2010/main" val="3064293950"/>
              </p:ext>
            </p:extLst>
          </p:nvPr>
        </p:nvGraphicFramePr>
        <p:xfrm>
          <a:off x="771525" y="1916459"/>
          <a:ext cx="10648950" cy="3796625"/>
        </p:xfrm>
        <a:graphic>
          <a:graphicData uri="http://schemas.openxmlformats.org/drawingml/2006/table">
            <a:tbl>
              <a:tblPr firstRow="1" bandRow="1">
                <a:noFill/>
                <a:tableStyleId>{81C5370F-0CB2-4A0E-BE99-5DB234536EAE}</a:tableStyleId>
              </a:tblPr>
              <a:tblGrid>
                <a:gridCol w="745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Recommendations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Priority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Improve Delivery Operations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E237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HIGH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Enhance Customer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E237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HIGH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App 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E2374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HIGH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Pricing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F59E0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MEDIUM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Launch Loyalty Program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F59E0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MEDIUM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Technology Enhancement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10B98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LOW</a:t>
                      </a:r>
                      <a:endParaRPr dirty="0"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6" name="Google Shape;366;p25"/>
          <p:cNvSpPr/>
          <p:nvPr/>
        </p:nvSpPr>
        <p:spPr>
          <a:xfrm>
            <a:off x="771525" y="2993677"/>
            <a:ext cx="7454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8225730" y="2993677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771525" y="3536602"/>
            <a:ext cx="7454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8225730" y="3536602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771525" y="4079527"/>
            <a:ext cx="7454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8225730" y="4079527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771525" y="4622452"/>
            <a:ext cx="7454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8225730" y="4622452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771525" y="5165377"/>
            <a:ext cx="74542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8225730" y="5165377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762" y="265554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762" y="319846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763" y="37413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29764" y="428431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31245" y="482723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25730" y="53701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11;p15">
            <a:extLst>
              <a:ext uri="{FF2B5EF4-FFF2-40B4-BE49-F238E27FC236}">
                <a16:creationId xmlns:a16="http://schemas.microsoft.com/office/drawing/2014/main" id="{0D3ADA1D-6039-45A2-A350-C8D9D04D4529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14550"/>
            <a:ext cx="252412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114550"/>
            <a:ext cx="252412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114550"/>
            <a:ext cx="252412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114550"/>
            <a:ext cx="252412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86300"/>
            <a:ext cx="52387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686300"/>
            <a:ext cx="523875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6"/>
          <p:cNvSpPr txBox="1"/>
          <p:nvPr/>
        </p:nvSpPr>
        <p:spPr>
          <a:xfrm>
            <a:off x="762000" y="5715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Success Metrics (KPIs)</a:t>
            </a:r>
            <a:endParaRPr/>
          </a:p>
        </p:txBody>
      </p:sp>
      <p:sp>
        <p:nvSpPr>
          <p:cNvPr id="401" name="Google Shape;401;p26"/>
          <p:cNvSpPr txBox="1"/>
          <p:nvPr/>
        </p:nvSpPr>
        <p:spPr>
          <a:xfrm>
            <a:off x="958929" y="2933700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Revenue</a:t>
            </a:r>
            <a:endParaRPr/>
          </a:p>
        </p:txBody>
      </p:sp>
      <p:sp>
        <p:nvSpPr>
          <p:cNvPr id="402" name="Google Shape;402;p26"/>
          <p:cNvSpPr txBox="1"/>
          <p:nvPr/>
        </p:nvSpPr>
        <p:spPr>
          <a:xfrm>
            <a:off x="1009650" y="3228975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Sales Growth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1009650" y="3476625"/>
            <a:ext cx="2028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Monthly Revenue Increases</a:t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3673554" y="2933700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Orders</a:t>
            </a: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3724275" y="3228975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Order Count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3724275" y="3476625"/>
            <a:ext cx="2028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Total Completed Orders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6388179" y="2933700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Retention</a:t>
            </a:r>
            <a:endParaRPr/>
          </a:p>
        </p:txBody>
      </p:sp>
      <p:sp>
        <p:nvSpPr>
          <p:cNvPr id="408" name="Google Shape;408;p26"/>
          <p:cNvSpPr txBox="1"/>
          <p:nvPr/>
        </p:nvSpPr>
        <p:spPr>
          <a:xfrm>
            <a:off x="6438900" y="3228975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Customer Retention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6438900" y="3476625"/>
            <a:ext cx="2028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Repeat Customer Rate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9102804" y="2933700"/>
            <a:ext cx="21302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Delivery</a:t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9153525" y="3228975"/>
            <a:ext cx="2028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Delivery Time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9153525" y="3476625"/>
            <a:ext cx="2028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Average Minutes Per Order</a:t>
            </a:r>
            <a:endParaRPr/>
          </a:p>
        </p:txBody>
      </p:sp>
      <p:pic>
        <p:nvPicPr>
          <p:cNvPr id="413" name="Google Shape;413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28812" y="2428875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24387" y="242887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62812" y="24288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77437" y="24288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0600" y="4933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6"/>
          <p:cNvSpPr txBox="1"/>
          <p:nvPr/>
        </p:nvSpPr>
        <p:spPr>
          <a:xfrm>
            <a:off x="1485900" y="4876800"/>
            <a:ext cx="222027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Support: Resolution Time</a:t>
            </a:r>
            <a:endParaRPr/>
          </a:p>
        </p:txBody>
      </p:sp>
      <p:sp>
        <p:nvSpPr>
          <p:cNvPr id="419" name="Google Shape;419;p26"/>
          <p:cNvSpPr txBox="1"/>
          <p:nvPr/>
        </p:nvSpPr>
        <p:spPr>
          <a:xfrm>
            <a:off x="1485900" y="5095875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Complaint Turnaround Time</a:t>
            </a:r>
            <a:endParaRPr/>
          </a:p>
        </p:txBody>
      </p:sp>
      <p:pic>
        <p:nvPicPr>
          <p:cNvPr id="420" name="Google Shape;420;p2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19850" y="4933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6"/>
          <p:cNvSpPr txBox="1"/>
          <p:nvPr/>
        </p:nvSpPr>
        <p:spPr>
          <a:xfrm>
            <a:off x="6915150" y="4876800"/>
            <a:ext cx="21502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Experience: CSAT &amp; NPS</a:t>
            </a:r>
            <a:endParaRPr/>
          </a:p>
        </p:txBody>
      </p:sp>
      <p:sp>
        <p:nvSpPr>
          <p:cNvPr id="422" name="Google Shape;422;p26"/>
          <p:cNvSpPr txBox="1"/>
          <p:nvPr/>
        </p:nvSpPr>
        <p:spPr>
          <a:xfrm>
            <a:off x="6915150" y="5095875"/>
            <a:ext cx="2047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DM Sans"/>
                <a:ea typeface="DM Sans"/>
                <a:cs typeface="DM Sans"/>
                <a:sym typeface="DM Sans"/>
              </a:rPr>
              <a:t>Customer Satisfaction Score</a:t>
            </a:r>
            <a:endParaRPr/>
          </a:p>
        </p:txBody>
      </p:sp>
      <p:sp>
        <p:nvSpPr>
          <p:cNvPr id="33" name="Google Shape;111;p15">
            <a:extLst>
              <a:ext uri="{FF2B5EF4-FFF2-40B4-BE49-F238E27FC236}">
                <a16:creationId xmlns:a16="http://schemas.microsoft.com/office/drawing/2014/main" id="{1B986978-3B5E-44A8-8004-00DDB161A142}"/>
              </a:ext>
            </a:extLst>
          </p:cNvPr>
          <p:cNvSpPr/>
          <p:nvPr/>
        </p:nvSpPr>
        <p:spPr>
          <a:xfrm>
            <a:off x="533400" y="571500"/>
            <a:ext cx="69915" cy="438149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550146"/>
            <a:ext cx="2349400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1150" y="3550146"/>
            <a:ext cx="2349549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6450" y="3550146"/>
            <a:ext cx="2349549" cy="1757957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7"/>
          <p:cNvSpPr txBox="1"/>
          <p:nvPr/>
        </p:nvSpPr>
        <p:spPr>
          <a:xfrm>
            <a:off x="2095500" y="1549896"/>
            <a:ext cx="80010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Monitoring &amp; Continuous Improvement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2286000" y="2864346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Framework for systematic review and execution adjustments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2487297" y="3826371"/>
            <a:ext cx="19468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3744"/>
                </a:solidFill>
                <a:latin typeface="Inter"/>
                <a:ea typeface="Inter"/>
                <a:cs typeface="Inter"/>
                <a:sym typeface="Inter"/>
              </a:rPr>
              <a:t>1) OPERATIONAL</a:t>
            </a:r>
            <a:endParaRPr/>
          </a:p>
        </p:txBody>
      </p:sp>
      <p:sp>
        <p:nvSpPr>
          <p:cNvPr id="434" name="Google Shape;434;p27"/>
          <p:cNvSpPr txBox="1"/>
          <p:nvPr/>
        </p:nvSpPr>
        <p:spPr>
          <a:xfrm>
            <a:off x="2533650" y="4112121"/>
            <a:ext cx="18541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Weekly Monitoring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2533650" y="4420641"/>
            <a:ext cx="18541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Delivery Time, Order Count, Complaints, App Performance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5122444" y="3826371"/>
            <a:ext cx="19469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3744"/>
                </a:solidFill>
                <a:latin typeface="Inter"/>
                <a:ea typeface="Inter"/>
                <a:cs typeface="Inter"/>
                <a:sym typeface="Inter"/>
              </a:rPr>
              <a:t>2) BUSINESS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5168800" y="4112121"/>
            <a:ext cx="18542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Monthly Monitoring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5168800" y="4420641"/>
            <a:ext cx="185424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Revenue, Retention, Churn, Customer Satisfaction</a:t>
            </a:r>
            <a:endParaRPr/>
          </a:p>
        </p:txBody>
      </p:sp>
      <p:sp>
        <p:nvSpPr>
          <p:cNvPr id="439" name="Google Shape;439;p27"/>
          <p:cNvSpPr txBox="1"/>
          <p:nvPr/>
        </p:nvSpPr>
        <p:spPr>
          <a:xfrm>
            <a:off x="7757744" y="3826371"/>
            <a:ext cx="19469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3744"/>
                </a:solidFill>
                <a:latin typeface="Inter"/>
                <a:ea typeface="Inter"/>
                <a:cs typeface="Inter"/>
                <a:sym typeface="Inter"/>
              </a:rPr>
              <a:t>3) ITERATIVE</a:t>
            </a:r>
            <a:endParaRPr/>
          </a:p>
        </p:txBody>
      </p:sp>
      <p:sp>
        <p:nvSpPr>
          <p:cNvPr id="440" name="Google Shape;440;p27"/>
          <p:cNvSpPr txBox="1"/>
          <p:nvPr/>
        </p:nvSpPr>
        <p:spPr>
          <a:xfrm>
            <a:off x="7804100" y="4112121"/>
            <a:ext cx="18542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Continuous Improvement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7804100" y="4420641"/>
            <a:ext cx="185424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Review KPI trends and implement iterative enhancement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739</Words>
  <Application>Microsoft Office PowerPoint</Application>
  <PresentationFormat>Widescreen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DM Sans ExtraBold</vt:lpstr>
      <vt:lpstr>Arial</vt:lpstr>
      <vt:lpstr>DM Sans Medium</vt:lpstr>
      <vt:lpstr>Calibri</vt:lpstr>
      <vt:lpstr>DM Sans SemiBold</vt:lpstr>
      <vt:lpstr>Inter ExtraBold</vt:lpstr>
      <vt:lpstr>DM Sans</vt:lpstr>
      <vt:lpstr>Inter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Yeshwant More</dc:creator>
  <cp:lastModifiedBy>Yeshwant More</cp:lastModifiedBy>
  <cp:revision>10</cp:revision>
  <dcterms:modified xsi:type="dcterms:W3CDTF">2026-07-13T21:17:49Z</dcterms:modified>
</cp:coreProperties>
</file>